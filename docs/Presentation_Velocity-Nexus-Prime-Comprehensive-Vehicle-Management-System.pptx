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Baskervville"/>
      <p:regular r:id="rId12"/>
    </p:embeddedFont>
    <p:embeddedFont>
      <p:font typeface="Baskervville"/>
      <p:regular r:id="rId13"/>
    </p:embeddedFont>
    <p:embeddedFont>
      <p:font typeface="Poppins"/>
      <p:regular r:id="rId14"/>
    </p:embeddedFont>
    <p:embeddedFont>
      <p:font typeface="Poppins"/>
      <p:regular r:id="rId15"/>
    </p:embeddedFont>
    <p:embeddedFont>
      <p:font typeface="Poppins"/>
      <p:regular r:id="rId16"/>
    </p:embeddedFont>
    <p:embeddedFont>
      <p:font typeface="Poppins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5529" y="1984177"/>
            <a:ext cx="7845743" cy="249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Velocity Nexus Prime: Comprehensive Vehicle Management System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6135529" y="4761905"/>
            <a:ext cx="7845743" cy="1483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Velocity Nexus Prime is a professional-grade vehicle management system designed to streamline modern dealership operations. Developed by Muhammad Danish Anwar &amp; Abdul Manan Arif at Lahore Garrison University, this project showcases an end-to-end solution for inventory, sales, customer relationships, and business analytics.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135618"/>
            <a:ext cx="10298549" cy="666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Key Features: Driving Dealership Efficiency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649129" y="2451140"/>
            <a:ext cx="4320421" cy="238637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49129" y="2428280"/>
            <a:ext cx="4320421" cy="91440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5" name="Shape 3"/>
          <p:cNvSpPr/>
          <p:nvPr/>
        </p:nvSpPr>
        <p:spPr>
          <a:xfrm>
            <a:off x="2531090" y="2173010"/>
            <a:ext cx="556379" cy="556379"/>
          </a:xfrm>
          <a:prstGeom prst="roundRect">
            <a:avLst>
              <a:gd name="adj" fmla="val 164348"/>
            </a:avLst>
          </a:prstGeom>
          <a:solidFill>
            <a:srgbClr val="C7A2A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8016" y="2339816"/>
            <a:ext cx="222528" cy="2225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7369" y="2914769"/>
            <a:ext cx="3475911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Inventory Management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57369" y="3442454"/>
            <a:ext cx="3903940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tracking of vehicles across multiple dealerships, ensuring accurate stock levels and availability.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154930" y="2451140"/>
            <a:ext cx="4320421" cy="238637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5154930" y="2428280"/>
            <a:ext cx="4320421" cy="91440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11" name="Shape 8"/>
          <p:cNvSpPr/>
          <p:nvPr/>
        </p:nvSpPr>
        <p:spPr>
          <a:xfrm>
            <a:off x="7036891" y="2173010"/>
            <a:ext cx="556379" cy="556379"/>
          </a:xfrm>
          <a:prstGeom prst="roundRect">
            <a:avLst>
              <a:gd name="adj" fmla="val 164348"/>
            </a:avLst>
          </a:prstGeom>
          <a:solidFill>
            <a:srgbClr val="C7A2A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3817" y="2339816"/>
            <a:ext cx="222528" cy="2225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3170" y="2914769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Sales Processing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5363170" y="3442454"/>
            <a:ext cx="3903940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workflows for tax, commission, and final sales calculations, reducing errors and saving time.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9660731" y="2451140"/>
            <a:ext cx="4320421" cy="238637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9660731" y="2428280"/>
            <a:ext cx="4320421" cy="91440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17" name="Shape 13"/>
          <p:cNvSpPr/>
          <p:nvPr/>
        </p:nvSpPr>
        <p:spPr>
          <a:xfrm>
            <a:off x="11542693" y="2173010"/>
            <a:ext cx="556379" cy="556379"/>
          </a:xfrm>
          <a:prstGeom prst="roundRect">
            <a:avLst>
              <a:gd name="adj" fmla="val 164348"/>
            </a:avLst>
          </a:prstGeom>
          <a:solidFill>
            <a:srgbClr val="C7A2A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09618" y="2339816"/>
            <a:ext cx="222528" cy="2225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68972" y="2914769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Customer CRM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9868972" y="3442454"/>
            <a:ext cx="3903940" cy="118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Comprehensive management of customer profiles, purchase history, and lifetime value for personalized engagement.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649129" y="5301020"/>
            <a:ext cx="6573322" cy="1792962"/>
          </a:xfrm>
          <a:prstGeom prst="roundRect">
            <a:avLst>
              <a:gd name="adj" fmla="val 6120"/>
            </a:avLst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649129" y="5278160"/>
            <a:ext cx="6573322" cy="91440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23" name="Shape 18"/>
          <p:cNvSpPr/>
          <p:nvPr/>
        </p:nvSpPr>
        <p:spPr>
          <a:xfrm>
            <a:off x="3657540" y="5022890"/>
            <a:ext cx="556379" cy="556379"/>
          </a:xfrm>
          <a:prstGeom prst="roundRect">
            <a:avLst>
              <a:gd name="adj" fmla="val 164348"/>
            </a:avLst>
          </a:prstGeom>
          <a:solidFill>
            <a:srgbClr val="C7A2A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24466" y="5189696"/>
            <a:ext cx="222528" cy="2225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7369" y="5764649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Business Analytics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857369" y="6292334"/>
            <a:ext cx="615684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dashboards providing insights into sales trends, performance metrics, and operational efficiency.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7407831" y="5301020"/>
            <a:ext cx="6573322" cy="1792962"/>
          </a:xfrm>
          <a:prstGeom prst="roundRect">
            <a:avLst>
              <a:gd name="adj" fmla="val 6120"/>
            </a:avLst>
          </a:prstGeom>
          <a:solidFill>
            <a:srgbClr val="FFFFFF"/>
          </a:solidFill>
          <a:ln/>
        </p:spPr>
      </p:sp>
      <p:sp>
        <p:nvSpPr>
          <p:cNvPr id="28" name="Shape 22"/>
          <p:cNvSpPr/>
          <p:nvPr/>
        </p:nvSpPr>
        <p:spPr>
          <a:xfrm>
            <a:off x="7407831" y="5278160"/>
            <a:ext cx="6573322" cy="91440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29" name="Shape 23"/>
          <p:cNvSpPr/>
          <p:nvPr/>
        </p:nvSpPr>
        <p:spPr>
          <a:xfrm>
            <a:off x="10416242" y="5022890"/>
            <a:ext cx="556379" cy="556379"/>
          </a:xfrm>
          <a:prstGeom prst="roundRect">
            <a:avLst>
              <a:gd name="adj" fmla="val 164348"/>
            </a:avLst>
          </a:prstGeom>
          <a:solidFill>
            <a:srgbClr val="C7A2A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83168" y="5189696"/>
            <a:ext cx="222528" cy="22252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616071" y="5764649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Robust Security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7616071" y="6292334"/>
            <a:ext cx="615684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access control with comprehensive audit logging, protecting sensitive data and ensuring compliance.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9002" y="565071"/>
            <a:ext cx="9150787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System Architecture: A Foundation of Modularity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39002" y="1382316"/>
            <a:ext cx="11552396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Velocity Nexus Prime system follows a strict 3-Tier Architecture to ensure modularity, scalability, and maintainability, separating concerns for optimal performance.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002" y="2014061"/>
            <a:ext cx="3850719" cy="5843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85092" y="2744510"/>
            <a:ext cx="3334583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Presentation Tier (Frontend)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1685092" y="3160276"/>
            <a:ext cx="3558540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Developed using Python Tkinter with custom dark theme UI components for an intuitive user experience.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721" y="2014061"/>
            <a:ext cx="3850838" cy="5843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35811" y="2744510"/>
            <a:ext cx="2794754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Business Tier (Backend)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5535811" y="3160276"/>
            <a:ext cx="3558659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with Python 3.8+ and a Service-Oriented Architecture, encapsulating core business logic.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560" y="2014061"/>
            <a:ext cx="3850719" cy="5843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86649" y="2744510"/>
            <a:ext cx="2625447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Data Tier (Database)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9386649" y="3160276"/>
            <a:ext cx="3558540" cy="70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Powered by Microsoft SQL Server 2019+, adhering to 3rd Normal Form for data integrity and efficiency.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539002" y="4226600"/>
            <a:ext cx="4130873" cy="39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Design Patterns Implemented</a:t>
            </a:r>
            <a:endParaRPr lang="en-US" sz="2450" dirty="0"/>
          </a:p>
        </p:txBody>
      </p:sp>
      <p:sp>
        <p:nvSpPr>
          <p:cNvPr id="14" name="Shape 9"/>
          <p:cNvSpPr/>
          <p:nvPr/>
        </p:nvSpPr>
        <p:spPr>
          <a:xfrm>
            <a:off x="1539002" y="4839414"/>
            <a:ext cx="11552396" cy="2824996"/>
          </a:xfrm>
          <a:prstGeom prst="roundRect">
            <a:avLst>
              <a:gd name="adj" fmla="val 7758"/>
            </a:avLst>
          </a:prstGeom>
          <a:solidFill>
            <a:srgbClr val="ECDFE3"/>
          </a:solidFill>
          <a:ln/>
        </p:spPr>
      </p:sp>
      <p:sp>
        <p:nvSpPr>
          <p:cNvPr id="15" name="Shape 10"/>
          <p:cNvSpPr/>
          <p:nvPr/>
        </p:nvSpPr>
        <p:spPr>
          <a:xfrm>
            <a:off x="1539002" y="4839414"/>
            <a:ext cx="5776198" cy="941665"/>
          </a:xfrm>
          <a:prstGeom prst="roundRect">
            <a:avLst>
              <a:gd name="adj" fmla="val 23275"/>
            </a:avLst>
          </a:prstGeom>
          <a:solidFill>
            <a:srgbClr val="ECDFE3"/>
          </a:solidFill>
          <a:ln/>
        </p:spPr>
      </p:sp>
      <p:sp>
        <p:nvSpPr>
          <p:cNvPr id="16" name="Text 11"/>
          <p:cNvSpPr/>
          <p:nvPr/>
        </p:nvSpPr>
        <p:spPr>
          <a:xfrm>
            <a:off x="1685092" y="4985504"/>
            <a:ext cx="2625447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Singleton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1685092" y="5401270"/>
            <a:ext cx="5264825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 Connection Manager.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315200" y="4839414"/>
            <a:ext cx="5776198" cy="941665"/>
          </a:xfrm>
          <a:prstGeom prst="rect">
            <a:avLst/>
          </a:prstGeom>
          <a:solidFill>
            <a:srgbClr val="ECDFE3"/>
          </a:solidFill>
          <a:ln/>
        </p:spPr>
      </p:sp>
      <p:sp>
        <p:nvSpPr>
          <p:cNvPr id="19" name="Shape 14"/>
          <p:cNvSpPr/>
          <p:nvPr/>
        </p:nvSpPr>
        <p:spPr>
          <a:xfrm>
            <a:off x="7315200" y="4839414"/>
            <a:ext cx="15240" cy="941665"/>
          </a:xfrm>
          <a:prstGeom prst="roundRect">
            <a:avLst>
              <a:gd name="adj" fmla="val 1438170"/>
            </a:avLst>
          </a:prstGeom>
          <a:solidFill>
            <a:srgbClr val="D2C5C9"/>
          </a:solidFill>
          <a:ln/>
        </p:spPr>
      </p:sp>
      <p:sp>
        <p:nvSpPr>
          <p:cNvPr id="20" name="Text 15"/>
          <p:cNvSpPr/>
          <p:nvPr/>
        </p:nvSpPr>
        <p:spPr>
          <a:xfrm>
            <a:off x="7680484" y="4985504"/>
            <a:ext cx="2625447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Repository</a:t>
            </a:r>
            <a:endParaRPr lang="en-US" sz="2050" dirty="0"/>
          </a:p>
        </p:txBody>
      </p:sp>
      <p:sp>
        <p:nvSpPr>
          <p:cNvPr id="21" name="Text 16"/>
          <p:cNvSpPr/>
          <p:nvPr/>
        </p:nvSpPr>
        <p:spPr>
          <a:xfrm>
            <a:off x="7680484" y="5401270"/>
            <a:ext cx="5264825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Abstracts data access logic.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132558" y="5127546"/>
            <a:ext cx="365284" cy="365284"/>
          </a:xfrm>
          <a:prstGeom prst="roundRect">
            <a:avLst>
              <a:gd name="adj" fmla="val 60002"/>
            </a:avLst>
          </a:prstGeom>
          <a:solidFill>
            <a:srgbClr val="FFFFFF"/>
          </a:solidFill>
          <a:ln w="15240">
            <a:solidFill>
              <a:srgbClr val="D2C5C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3879" y="5218748"/>
            <a:ext cx="182642" cy="18264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539002" y="5781080"/>
            <a:ext cx="5776198" cy="941665"/>
          </a:xfrm>
          <a:prstGeom prst="rect">
            <a:avLst/>
          </a:prstGeom>
          <a:solidFill>
            <a:srgbClr val="ECDFE3"/>
          </a:solidFill>
          <a:ln/>
        </p:spPr>
      </p:sp>
      <p:sp>
        <p:nvSpPr>
          <p:cNvPr id="25" name="Shape 19"/>
          <p:cNvSpPr/>
          <p:nvPr/>
        </p:nvSpPr>
        <p:spPr>
          <a:xfrm>
            <a:off x="1539002" y="5781080"/>
            <a:ext cx="5776198" cy="15240"/>
          </a:xfrm>
          <a:prstGeom prst="roundRect">
            <a:avLst>
              <a:gd name="adj" fmla="val 1438170"/>
            </a:avLst>
          </a:prstGeom>
          <a:solidFill>
            <a:srgbClr val="D2C5C9"/>
          </a:solidFill>
          <a:ln/>
        </p:spPr>
      </p:sp>
      <p:sp>
        <p:nvSpPr>
          <p:cNvPr id="26" name="Text 20"/>
          <p:cNvSpPr/>
          <p:nvPr/>
        </p:nvSpPr>
        <p:spPr>
          <a:xfrm>
            <a:off x="1685092" y="5927169"/>
            <a:ext cx="2625447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Service</a:t>
            </a:r>
            <a:endParaRPr lang="en-US" sz="2050" dirty="0"/>
          </a:p>
        </p:txBody>
      </p:sp>
      <p:sp>
        <p:nvSpPr>
          <p:cNvPr id="27" name="Text 21"/>
          <p:cNvSpPr/>
          <p:nvPr/>
        </p:nvSpPr>
        <p:spPr>
          <a:xfrm>
            <a:off x="1685092" y="6342936"/>
            <a:ext cx="5264825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Encapsulates business rules.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315200" y="5781080"/>
            <a:ext cx="5776198" cy="941665"/>
          </a:xfrm>
          <a:prstGeom prst="rect">
            <a:avLst/>
          </a:prstGeom>
          <a:solidFill>
            <a:srgbClr val="ECDFE3"/>
          </a:solidFill>
          <a:ln/>
        </p:spPr>
      </p:sp>
      <p:sp>
        <p:nvSpPr>
          <p:cNvPr id="29" name="Shape 23"/>
          <p:cNvSpPr/>
          <p:nvPr/>
        </p:nvSpPr>
        <p:spPr>
          <a:xfrm>
            <a:off x="7315200" y="5781080"/>
            <a:ext cx="15240" cy="941665"/>
          </a:xfrm>
          <a:prstGeom prst="roundRect">
            <a:avLst>
              <a:gd name="adj" fmla="val 1438170"/>
            </a:avLst>
          </a:prstGeom>
          <a:solidFill>
            <a:srgbClr val="D2C5C9"/>
          </a:solidFill>
          <a:ln/>
        </p:spPr>
      </p:sp>
      <p:sp>
        <p:nvSpPr>
          <p:cNvPr id="30" name="Shape 24"/>
          <p:cNvSpPr/>
          <p:nvPr/>
        </p:nvSpPr>
        <p:spPr>
          <a:xfrm>
            <a:off x="7315200" y="5781080"/>
            <a:ext cx="5776198" cy="15240"/>
          </a:xfrm>
          <a:prstGeom prst="roundRect">
            <a:avLst>
              <a:gd name="adj" fmla="val 1438170"/>
            </a:avLst>
          </a:prstGeom>
          <a:solidFill>
            <a:srgbClr val="D2C5C9"/>
          </a:solidFill>
          <a:ln/>
        </p:spPr>
      </p:sp>
      <p:sp>
        <p:nvSpPr>
          <p:cNvPr id="31" name="Text 25"/>
          <p:cNvSpPr/>
          <p:nvPr/>
        </p:nvSpPr>
        <p:spPr>
          <a:xfrm>
            <a:off x="7680484" y="5927169"/>
            <a:ext cx="2625447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Factory</a:t>
            </a:r>
            <a:endParaRPr lang="en-US" sz="2050" dirty="0"/>
          </a:p>
        </p:txBody>
      </p:sp>
      <p:sp>
        <p:nvSpPr>
          <p:cNvPr id="32" name="Text 26"/>
          <p:cNvSpPr/>
          <p:nvPr/>
        </p:nvSpPr>
        <p:spPr>
          <a:xfrm>
            <a:off x="7680484" y="6342936"/>
            <a:ext cx="5264825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Standardizes UI creation.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7132558" y="6069211"/>
            <a:ext cx="365284" cy="365284"/>
          </a:xfrm>
          <a:prstGeom prst="roundRect">
            <a:avLst>
              <a:gd name="adj" fmla="val 60002"/>
            </a:avLst>
          </a:prstGeom>
          <a:solidFill>
            <a:srgbClr val="FFFFFF"/>
          </a:solidFill>
          <a:ln w="15240">
            <a:solidFill>
              <a:srgbClr val="D2C5C9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3879" y="6160413"/>
            <a:ext cx="182642" cy="18264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539002" y="6722745"/>
            <a:ext cx="5776198" cy="941665"/>
          </a:xfrm>
          <a:prstGeom prst="rect">
            <a:avLst/>
          </a:prstGeom>
          <a:solidFill>
            <a:srgbClr val="ECDFE3"/>
          </a:solidFill>
          <a:ln/>
        </p:spPr>
      </p:sp>
      <p:sp>
        <p:nvSpPr>
          <p:cNvPr id="36" name="Shape 29"/>
          <p:cNvSpPr/>
          <p:nvPr/>
        </p:nvSpPr>
        <p:spPr>
          <a:xfrm>
            <a:off x="1539002" y="6722745"/>
            <a:ext cx="5776198" cy="15240"/>
          </a:xfrm>
          <a:prstGeom prst="roundRect">
            <a:avLst>
              <a:gd name="adj" fmla="val 1438170"/>
            </a:avLst>
          </a:prstGeom>
          <a:solidFill>
            <a:srgbClr val="D2C5C9"/>
          </a:solidFill>
          <a:ln/>
        </p:spPr>
      </p:sp>
      <p:sp>
        <p:nvSpPr>
          <p:cNvPr id="37" name="Text 30"/>
          <p:cNvSpPr/>
          <p:nvPr/>
        </p:nvSpPr>
        <p:spPr>
          <a:xfrm>
            <a:off x="1685092" y="6868835"/>
            <a:ext cx="2625447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Observer</a:t>
            </a:r>
            <a:endParaRPr lang="en-US" sz="2050" dirty="0"/>
          </a:p>
        </p:txBody>
      </p:sp>
      <p:sp>
        <p:nvSpPr>
          <p:cNvPr id="38" name="Text 31"/>
          <p:cNvSpPr/>
          <p:nvPr/>
        </p:nvSpPr>
        <p:spPr>
          <a:xfrm>
            <a:off x="1685092" y="7284601"/>
            <a:ext cx="5264825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UI updates.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7315200" y="6722745"/>
            <a:ext cx="5776198" cy="941665"/>
          </a:xfrm>
          <a:prstGeom prst="rect">
            <a:avLst/>
          </a:prstGeom>
          <a:solidFill>
            <a:srgbClr val="ECDFE3"/>
          </a:solidFill>
          <a:ln/>
        </p:spPr>
      </p:sp>
      <p:sp>
        <p:nvSpPr>
          <p:cNvPr id="40" name="Shape 33"/>
          <p:cNvSpPr/>
          <p:nvPr/>
        </p:nvSpPr>
        <p:spPr>
          <a:xfrm>
            <a:off x="7315200" y="6722745"/>
            <a:ext cx="15240" cy="941665"/>
          </a:xfrm>
          <a:prstGeom prst="roundRect">
            <a:avLst>
              <a:gd name="adj" fmla="val 1438170"/>
            </a:avLst>
          </a:prstGeom>
          <a:solidFill>
            <a:srgbClr val="D2C5C9"/>
          </a:solidFill>
          <a:ln/>
        </p:spPr>
      </p:sp>
      <p:sp>
        <p:nvSpPr>
          <p:cNvPr id="41" name="Shape 34"/>
          <p:cNvSpPr/>
          <p:nvPr/>
        </p:nvSpPr>
        <p:spPr>
          <a:xfrm>
            <a:off x="7315200" y="6722745"/>
            <a:ext cx="5776198" cy="15240"/>
          </a:xfrm>
          <a:prstGeom prst="roundRect">
            <a:avLst>
              <a:gd name="adj" fmla="val 1438170"/>
            </a:avLst>
          </a:prstGeom>
          <a:solidFill>
            <a:srgbClr val="D2C5C9"/>
          </a:solidFill>
          <a:ln/>
        </p:spPr>
      </p:sp>
      <p:sp>
        <p:nvSpPr>
          <p:cNvPr id="42" name="Text 35"/>
          <p:cNvSpPr/>
          <p:nvPr/>
        </p:nvSpPr>
        <p:spPr>
          <a:xfrm>
            <a:off x="7680484" y="6868835"/>
            <a:ext cx="2625447" cy="32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Strategy</a:t>
            </a:r>
            <a:endParaRPr lang="en-US" sz="2050" dirty="0"/>
          </a:p>
        </p:txBody>
      </p:sp>
      <p:sp>
        <p:nvSpPr>
          <p:cNvPr id="43" name="Text 36"/>
          <p:cNvSpPr/>
          <p:nvPr/>
        </p:nvSpPr>
        <p:spPr>
          <a:xfrm>
            <a:off x="7680484" y="7284601"/>
            <a:ext cx="5264825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Flexible analytics calculations.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7132558" y="7010876"/>
            <a:ext cx="365284" cy="365284"/>
          </a:xfrm>
          <a:prstGeom prst="roundRect">
            <a:avLst>
              <a:gd name="adj" fmla="val 60002"/>
            </a:avLst>
          </a:prstGeom>
          <a:solidFill>
            <a:srgbClr val="FFFFFF"/>
          </a:solidFill>
          <a:ln w="15240">
            <a:solidFill>
              <a:srgbClr val="D2C5C9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23879" y="7102078"/>
            <a:ext cx="182642" cy="1826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8908" y="255032"/>
            <a:ext cx="5429012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Database Architecture &amp; Advanced SQL Logic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3648908" y="773549"/>
            <a:ext cx="7332583" cy="29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database is the backbone of Velocity Nexus Prime, designed with meticulous adherence to BCNF principles and robust SQL implementations for data integrity and complex business logic.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48908" y="1267182"/>
            <a:ext cx="1729502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Core Stored Procedures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48908" y="1629073"/>
            <a:ext cx="46315" cy="46315"/>
          </a:xfrm>
          <a:prstGeom prst="roundRect">
            <a:avLst>
              <a:gd name="adj" fmla="val 987153"/>
            </a:avLst>
          </a:prstGeom>
          <a:solidFill>
            <a:srgbClr val="C7A2AC"/>
          </a:solidFill>
          <a:ln/>
        </p:spPr>
      </p:sp>
      <p:sp>
        <p:nvSpPr>
          <p:cNvPr id="6" name="Text 4"/>
          <p:cNvSpPr/>
          <p:nvPr/>
        </p:nvSpPr>
        <p:spPr>
          <a:xfrm>
            <a:off x="3787854" y="1579840"/>
            <a:ext cx="192405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sp_ProcessCompleteSale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87854" y="1888450"/>
            <a:ext cx="3414236" cy="44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Handles entire sales transactions with ACID properties, including tax calculation (17% standard, 35% imported), commission, status updates, customer statistics, and audit logging.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48908" y="2568119"/>
            <a:ext cx="46315" cy="46315"/>
          </a:xfrm>
          <a:prstGeom prst="roundRect">
            <a:avLst>
              <a:gd name="adj" fmla="val 987153"/>
            </a:avLst>
          </a:prstGeom>
          <a:solidFill>
            <a:srgbClr val="C7A2AC"/>
          </a:solidFill>
          <a:ln/>
        </p:spPr>
      </p:sp>
      <p:sp>
        <p:nvSpPr>
          <p:cNvPr id="9" name="Text 7"/>
          <p:cNvSpPr/>
          <p:nvPr/>
        </p:nvSpPr>
        <p:spPr>
          <a:xfrm>
            <a:off x="3787854" y="2518886"/>
            <a:ext cx="2185392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sp_GenerateFinancialReport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87854" y="2827496"/>
            <a:ext cx="3414236" cy="29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Generates a comprehensive 3-part financial report (Summary, Payment Methods, Daily Trends) using </a:t>
            </a:r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48908" y="3228499"/>
            <a:ext cx="1666399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SQL Functions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48908" y="3590389"/>
            <a:ext cx="46315" cy="46315"/>
          </a:xfrm>
          <a:prstGeom prst="roundRect">
            <a:avLst>
              <a:gd name="adj" fmla="val 987153"/>
            </a:avLst>
          </a:prstGeom>
          <a:solidFill>
            <a:srgbClr val="C7A2AC"/>
          </a:solidFill>
          <a:ln/>
        </p:spPr>
      </p:sp>
      <p:sp>
        <p:nvSpPr>
          <p:cNvPr id="13" name="Text 11"/>
          <p:cNvSpPr/>
          <p:nvPr/>
        </p:nvSpPr>
        <p:spPr>
          <a:xfrm>
            <a:off x="3787854" y="3541157"/>
            <a:ext cx="193631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fn_CalculateDepreciation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87854" y="3849767"/>
            <a:ext cx="3414236" cy="29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Calculates current vehicle value based on age (5% per year) and mileage factors.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48908" y="4381083"/>
            <a:ext cx="46315" cy="46315"/>
          </a:xfrm>
          <a:prstGeom prst="roundRect">
            <a:avLst>
              <a:gd name="adj" fmla="val 987153"/>
            </a:avLst>
          </a:prstGeom>
          <a:solidFill>
            <a:srgbClr val="C7A2AC"/>
          </a:solidFill>
          <a:ln/>
        </p:spPr>
      </p:sp>
      <p:sp>
        <p:nvSpPr>
          <p:cNvPr id="16" name="Text 14"/>
          <p:cNvSpPr/>
          <p:nvPr/>
        </p:nvSpPr>
        <p:spPr>
          <a:xfrm>
            <a:off x="3787854" y="4331851"/>
            <a:ext cx="1980009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fn_CalculateCustomerLTV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87854" y="4640461"/>
            <a:ext cx="3414236" cy="29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Computes Customer Lifetime Value from past sales and projected future interactions.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435929" y="1267182"/>
            <a:ext cx="2278499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Normalization Process (BCNF)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5929" y="1579840"/>
            <a:ext cx="3553182" cy="355318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435929" y="5237321"/>
            <a:ext cx="92631" cy="115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01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7435929" y="5379482"/>
            <a:ext cx="3553182" cy="1524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22" name="Text 19"/>
          <p:cNvSpPr/>
          <p:nvPr/>
        </p:nvSpPr>
        <p:spPr>
          <a:xfrm>
            <a:off x="7435929" y="5456277"/>
            <a:ext cx="1666399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1NF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35929" y="5757267"/>
            <a:ext cx="3553182" cy="148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Eliminated repeating groups.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435929" y="6067782"/>
            <a:ext cx="92631" cy="115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02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7435929" y="6209943"/>
            <a:ext cx="3553182" cy="1524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26" name="Text 23"/>
          <p:cNvSpPr/>
          <p:nvPr/>
        </p:nvSpPr>
        <p:spPr>
          <a:xfrm>
            <a:off x="7435929" y="6286738"/>
            <a:ext cx="1666399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2NF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435929" y="6587728"/>
            <a:ext cx="3553182" cy="148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Removed partial dependencies.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7435929" y="6898243"/>
            <a:ext cx="92631" cy="115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03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7435929" y="7040404"/>
            <a:ext cx="3553182" cy="1524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30" name="Text 27"/>
          <p:cNvSpPr/>
          <p:nvPr/>
        </p:nvSpPr>
        <p:spPr>
          <a:xfrm>
            <a:off x="7435929" y="7117199"/>
            <a:ext cx="1666399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3NF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435929" y="7418189"/>
            <a:ext cx="3553182" cy="148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Removed transitive dependencies.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435929" y="7728704"/>
            <a:ext cx="92631" cy="115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04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7435929" y="7870865"/>
            <a:ext cx="3553182" cy="1524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34" name="Text 31"/>
          <p:cNvSpPr/>
          <p:nvPr/>
        </p:nvSpPr>
        <p:spPr>
          <a:xfrm>
            <a:off x="7435929" y="7947660"/>
            <a:ext cx="1666399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BCNF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435929" y="8248650"/>
            <a:ext cx="3553182" cy="148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Ensured every determinant is a candidate key.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87172" y="445889"/>
            <a:ext cx="5532715" cy="384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Software Construction &amp; Future Outlook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87172" y="1044059"/>
            <a:ext cx="8456057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Adhering to crucial software development principles and employing rigorous testing, Velocity Nexus Prime is built for reliability and continuous improvement.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087172" y="1442204"/>
            <a:ext cx="3494365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Layman's Laws of Software Development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087172" y="1802606"/>
            <a:ext cx="4097655" cy="762357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15240">
            <a:solidFill>
              <a:srgbClr val="D2C5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71932" y="1802606"/>
            <a:ext cx="60960" cy="762357"/>
          </a:xfrm>
          <a:prstGeom prst="roundRect">
            <a:avLst>
              <a:gd name="adj" fmla="val 263178"/>
            </a:avLst>
          </a:prstGeom>
          <a:solidFill>
            <a:srgbClr val="C7A2AC"/>
          </a:solidFill>
          <a:ln/>
        </p:spPr>
      </p:sp>
      <p:sp>
        <p:nvSpPr>
          <p:cNvPr id="7" name="Text 5"/>
          <p:cNvSpPr/>
          <p:nvPr/>
        </p:nvSpPr>
        <p:spPr>
          <a:xfrm>
            <a:off x="3255050" y="1924764"/>
            <a:ext cx="206144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Changing Requirements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55050" y="2271832"/>
            <a:ext cx="3807619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Anticipating and adapting to evolving project needs.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087172" y="2671882"/>
            <a:ext cx="4097655" cy="762357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15240">
            <a:solidFill>
              <a:srgbClr val="D2C5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1932" y="2671882"/>
            <a:ext cx="60960" cy="762357"/>
          </a:xfrm>
          <a:prstGeom prst="roundRect">
            <a:avLst>
              <a:gd name="adj" fmla="val 263178"/>
            </a:avLst>
          </a:prstGeom>
          <a:solidFill>
            <a:srgbClr val="C7A2AC"/>
          </a:solidFill>
          <a:ln/>
        </p:spPr>
      </p:sp>
      <p:sp>
        <p:nvSpPr>
          <p:cNvPr id="11" name="Text 9"/>
          <p:cNvSpPr/>
          <p:nvPr/>
        </p:nvSpPr>
        <p:spPr>
          <a:xfrm>
            <a:off x="3255050" y="2794040"/>
            <a:ext cx="192178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Hidden Complexity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55050" y="3141107"/>
            <a:ext cx="3807619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Simplifying features without compromising underlying intricacy.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87172" y="3541157"/>
            <a:ext cx="4097655" cy="762357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15240">
            <a:solidFill>
              <a:srgbClr val="D2C5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1932" y="3541157"/>
            <a:ext cx="60960" cy="762357"/>
          </a:xfrm>
          <a:prstGeom prst="roundRect">
            <a:avLst>
              <a:gd name="adj" fmla="val 263178"/>
            </a:avLst>
          </a:prstGeom>
          <a:solidFill>
            <a:srgbClr val="C7A2AC"/>
          </a:solidFill>
          <a:ln/>
        </p:spPr>
      </p:sp>
      <p:sp>
        <p:nvSpPr>
          <p:cNvPr id="15" name="Text 13"/>
          <p:cNvSpPr/>
          <p:nvPr/>
        </p:nvSpPr>
        <p:spPr>
          <a:xfrm>
            <a:off x="3255050" y="3663315"/>
            <a:ext cx="192178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Debugging Time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55050" y="4010382"/>
            <a:ext cx="3807619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Acknowledging and planning for the time investment in bug resolution.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87172" y="4410432"/>
            <a:ext cx="4097655" cy="762357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15240">
            <a:solidFill>
              <a:srgbClr val="D2C5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71932" y="4410432"/>
            <a:ext cx="60960" cy="762357"/>
          </a:xfrm>
          <a:prstGeom prst="roundRect">
            <a:avLst>
              <a:gd name="adj" fmla="val 263178"/>
            </a:avLst>
          </a:prstGeom>
          <a:solidFill>
            <a:srgbClr val="C7A2AC"/>
          </a:solidFill>
          <a:ln/>
        </p:spPr>
      </p:sp>
      <p:sp>
        <p:nvSpPr>
          <p:cNvPr id="19" name="Text 17"/>
          <p:cNvSpPr/>
          <p:nvPr/>
        </p:nvSpPr>
        <p:spPr>
          <a:xfrm>
            <a:off x="3255050" y="4532590"/>
            <a:ext cx="192178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Documentation Debt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55050" y="4879658"/>
            <a:ext cx="3807619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Prioritizing clear and comprehensive documentation.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53193" y="1442204"/>
            <a:ext cx="335553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Deployment &amp; Academic Achievements</a:t>
            </a:r>
            <a:endParaRPr lang="en-US" sz="15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3193" y="1802606"/>
            <a:ext cx="4097655" cy="409765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53193" y="6020514"/>
            <a:ext cx="4097655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 Pipeline:</a:t>
            </a:r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One-click LAUNCHER.bat script for easy setup.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453193" y="6228874"/>
            <a:ext cx="4097655" cy="34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Configuration Management:</a:t>
            </a:r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Utilizes </a:t>
            </a:r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python-dotenv</a:t>
            </a:r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environment variables.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453193" y="6608207"/>
            <a:ext cx="4097655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CI/CD:</a:t>
            </a:r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GitHub Actions configured for automated testing on every push.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453193" y="6816566"/>
            <a:ext cx="4097655" cy="34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Functional Completeness:</a:t>
            </a:r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100% of requirements implemented (Sales, Inventory, CRM).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453193" y="7195899"/>
            <a:ext cx="4097655" cy="34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Performance:</a:t>
            </a:r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Sub-second response times for queries on over 1000 records.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453193" y="7575233"/>
            <a:ext cx="4097655" cy="170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Quality:</a:t>
            </a:r>
            <a:pPr algn="l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Integrated 3-Tier Architecture with 6 robust Design Patterns.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2026-01-08T04:23:08Z</dcterms:created>
  <dcterms:modified xsi:type="dcterms:W3CDTF">2026-01-08T04:23:08Z</dcterms:modified>
</cp:coreProperties>
</file>